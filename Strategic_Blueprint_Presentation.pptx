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3" r:id="rId9"/>
    <p:sldId id="262" r:id="rId10"/>
    <p:sldId id="263" r:id="rId11"/>
    <p:sldId id="272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6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6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5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4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5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6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3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3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65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66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3411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42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7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29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56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2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98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A Strategic Blueprint for Our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 data-driven story of discovery, risks, and opportunity</a:t>
            </a:r>
          </a:p>
          <a:p>
            <a:r>
              <a:rPr dirty="0"/>
              <a:t>Presented by: </a:t>
            </a:r>
            <a:r>
              <a:rPr lang="en-US" dirty="0"/>
              <a:t>Mohamed Qassem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the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seeing the invisible threads connecting sales, customers, and global markets.</a:t>
            </a:r>
          </a:p>
          <a:p>
            <a:r>
              <a:t>This report tells that story — a story of discovery and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deep market insights to:</a:t>
            </a:r>
          </a:p>
          <a:p>
            <a:r>
              <a:t>• Drive revenue growth</a:t>
            </a:r>
          </a:p>
          <a:p>
            <a:r>
              <a:t>• Protect key customers</a:t>
            </a:r>
          </a:p>
          <a:p>
            <a:r>
              <a:t>• Expand globally</a:t>
            </a:r>
          </a:p>
          <a:p>
            <a:r>
              <a:t>• Align with sales rhythms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#1 – Uneven Performance in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Netherlands leads</a:t>
            </a:r>
          </a:p>
          <a:p>
            <a:r>
              <a:t>• Germany sells more units</a:t>
            </a:r>
          </a:p>
          <a:p>
            <a:r>
              <a:t>• France earns more per unit</a:t>
            </a:r>
          </a:p>
          <a:p>
            <a:r>
              <a:t>• Other countries underperform</a:t>
            </a:r>
          </a:p>
          <a:p>
            <a:r>
              <a:t>→ Why can’t all perform like Netherlands?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4581-3C8F-79B6-CD84-C9F0F306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Top 10 : Revenue &amp; Quantity 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B5924BEB-1CE5-0DA0-4C8F-55D990501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316" y="1731963"/>
            <a:ext cx="6943431" cy="4059237"/>
          </a:xfrm>
        </p:spPr>
      </p:pic>
    </p:spTree>
    <p:extLst>
      <p:ext uri="{BB962C8B-B14F-4D97-AF65-F5344CB8AC3E}">
        <p14:creationId xmlns:p14="http://schemas.microsoft.com/office/powerpoint/2010/main" val="215488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Solution #1 – Replicate What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Netherlands strategy</a:t>
            </a:r>
          </a:p>
          <a:p>
            <a:r>
              <a:t>• Apply to Germany and France</a:t>
            </a:r>
          </a:p>
          <a:p>
            <a:r>
              <a:t>• Adjust pricing/product mix in lower-value countries</a:t>
            </a:r>
          </a:p>
          <a:p>
            <a:r>
              <a:t>→ Goal: Maximize value per sale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#2 – One VIP, One Big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17511 brings major revenue</a:t>
            </a:r>
          </a:p>
          <a:p>
            <a:r>
              <a:t>• Heavy reliance on a few</a:t>
            </a:r>
          </a:p>
          <a:p>
            <a:r>
              <a:t>→ What if one leaves?</a:t>
            </a:r>
          </a:p>
          <a:p>
            <a:r>
              <a:t>→ Are we seeking similar customers?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7975-8F05-C8F8-8C16-9EA39A4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VIP customers (Top 10)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075231-DC78-AFAA-2348-73FC2A49D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099" y="1731963"/>
            <a:ext cx="6403865" cy="4059237"/>
          </a:xfrm>
        </p:spPr>
      </p:pic>
    </p:spTree>
    <p:extLst>
      <p:ext uri="{BB962C8B-B14F-4D97-AF65-F5344CB8AC3E}">
        <p14:creationId xmlns:p14="http://schemas.microsoft.com/office/powerpoint/2010/main" val="287380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#2 – Protect &amp; Multiply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VIP treatment for top customers</a:t>
            </a:r>
          </a:p>
          <a:p>
            <a:r>
              <a:t>• Contingency plans</a:t>
            </a:r>
          </a:p>
          <a:p>
            <a:r>
              <a:t>• Create look-alike profiles</a:t>
            </a:r>
          </a:p>
          <a:p>
            <a:r>
              <a:t>→ Goal: Secure and expand top-tier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Problem #3 – Untapped Global Goldmines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28285"/>
            <a:ext cx="7765322" cy="4058751"/>
          </a:xfrm>
        </p:spPr>
        <p:txBody>
          <a:bodyPr/>
          <a:lstStyle/>
          <a:p>
            <a:r>
              <a:rPr dirty="0"/>
              <a:t>• Strong in NA &amp; Western Europe</a:t>
            </a:r>
          </a:p>
          <a:p>
            <a:r>
              <a:rPr dirty="0"/>
              <a:t>• Weak in Africa, South America, Asia</a:t>
            </a:r>
          </a:p>
          <a:p>
            <a:r>
              <a:rPr dirty="0"/>
              <a:t>→ Missing major growth areas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AC0F-A998-3884-3734-1EBE39D3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Demand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9A3F4-4599-9947-8411-39BACEE19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090" y="1731963"/>
            <a:ext cx="6669883" cy="4059237"/>
          </a:xfrm>
        </p:spPr>
      </p:pic>
    </p:spTree>
    <p:extLst>
      <p:ext uri="{BB962C8B-B14F-4D97-AF65-F5344CB8AC3E}">
        <p14:creationId xmlns:p14="http://schemas.microsoft.com/office/powerpoint/2010/main" val="34841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#3 – Explore &amp;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Research 2 white-space regions</a:t>
            </a:r>
          </a:p>
          <a:p>
            <a:r>
              <a:t>• Understand local markets</a:t>
            </a:r>
          </a:p>
          <a:p>
            <a:r>
              <a:t>• Build phased entry plan</a:t>
            </a:r>
          </a:p>
          <a:p>
            <a:r>
              <a:t>→ Goal: Expand intelligently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Problem #4 – Not Dancing with Our Sales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October peak, Nov-Dec dip</a:t>
            </a:r>
          </a:p>
          <a:p>
            <a:r>
              <a:rPr dirty="0"/>
              <a:t>• Spring mini-peak</a:t>
            </a:r>
          </a:p>
          <a:p>
            <a:r>
              <a:rPr dirty="0"/>
              <a:t>→ Are we aligned with this pattern?</a:t>
            </a:r>
          </a:p>
          <a:p>
            <a:r>
              <a:rPr dirty="0"/>
              <a:t>→ Are we wasting resources?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7436-C072-D0C8-FE2F-5D60AFF1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Revenue performance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1F66872-1384-9983-AA11-69C8F6038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598" y="1731963"/>
            <a:ext cx="7286866" cy="4059237"/>
          </a:xfrm>
        </p:spPr>
      </p:pic>
    </p:spTree>
    <p:extLst>
      <p:ext uri="{BB962C8B-B14F-4D97-AF65-F5344CB8AC3E}">
        <p14:creationId xmlns:p14="http://schemas.microsoft.com/office/powerpoint/2010/main" val="4091303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#4 – Ride the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Align teams for October</a:t>
            </a:r>
          </a:p>
          <a:p>
            <a:r>
              <a:t>• Launch summer promos</a:t>
            </a:r>
          </a:p>
          <a:p>
            <a:r>
              <a:t>→ Goal: Boost peaks, smooth troughs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we act:</a:t>
            </a:r>
          </a:p>
          <a:p>
            <a:r>
              <a:rPr dirty="0"/>
              <a:t>✅ Boost EU revenue</a:t>
            </a:r>
          </a:p>
          <a:p>
            <a:r>
              <a:rPr dirty="0"/>
              <a:t>✅ Reduce VIP risk</a:t>
            </a:r>
          </a:p>
          <a:p>
            <a:r>
              <a:rPr dirty="0"/>
              <a:t>✅ Enter new markets</a:t>
            </a:r>
          </a:p>
          <a:p>
            <a:r>
              <a:rPr dirty="0"/>
              <a:t>✅ Align ops with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Financial dive into EU</a:t>
            </a:r>
          </a:p>
          <a:p>
            <a:r>
              <a:rPr dirty="0"/>
              <a:t> Loyalty prediction model</a:t>
            </a:r>
          </a:p>
          <a:p>
            <a:r>
              <a:rPr dirty="0"/>
              <a:t> White-space study</a:t>
            </a:r>
          </a:p>
          <a:p>
            <a:r>
              <a:rPr dirty="0"/>
              <a:t> Sync ops to rhythm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332" y="2718527"/>
            <a:ext cx="7765322" cy="970450"/>
          </a:xfrm>
        </p:spPr>
        <p:txBody>
          <a:bodyPr/>
          <a:lstStyle/>
          <a:p>
            <a:r>
              <a:rPr lang="en-US" dirty="0"/>
              <a:t>Ready to turn data into action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Custom 1">
      <a:majorFont>
        <a:latin typeface="Segoe UI Light"/>
        <a:ea typeface=""/>
        <a:cs typeface=""/>
      </a:majorFont>
      <a:minorFont>
        <a:latin typeface="Segoe UI Historic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36</TotalTime>
  <Words>384</Words>
  <Application>Microsoft Office PowerPoint</Application>
  <PresentationFormat>On-screen Show (4:3)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Segoe UI Historic</vt:lpstr>
      <vt:lpstr>Segoe UI Light</vt:lpstr>
      <vt:lpstr>Wingdings 2</vt:lpstr>
      <vt:lpstr>Slate</vt:lpstr>
      <vt:lpstr>A Strategic Blueprint for Our Future</vt:lpstr>
      <vt:lpstr>Setting the Stage</vt:lpstr>
      <vt:lpstr>Our Mission</vt:lpstr>
      <vt:lpstr>Problem #1 – Uneven Performance in Europe</vt:lpstr>
      <vt:lpstr> Top 10 : Revenue &amp; Quantity </vt:lpstr>
      <vt:lpstr>Solution #1 – Replicate What Works</vt:lpstr>
      <vt:lpstr>Problem #2 – One VIP, One Big Risk</vt:lpstr>
      <vt:lpstr>VIP customers (Top 10)</vt:lpstr>
      <vt:lpstr>Solution #2 – Protect &amp; Multiply</vt:lpstr>
      <vt:lpstr>Problem #3 – Untapped Global Goldmines</vt:lpstr>
      <vt:lpstr>Country Demand </vt:lpstr>
      <vt:lpstr>Solution #3 – Explore &amp; Expand</vt:lpstr>
      <vt:lpstr>Problem #4 – Not Dancing with Our Sales Rhythm</vt:lpstr>
      <vt:lpstr>Monthly Revenue performance</vt:lpstr>
      <vt:lpstr>Solution #4 – Ride the Rhythm</vt:lpstr>
      <vt:lpstr>The Transformation Path</vt:lpstr>
      <vt:lpstr>Our Next Steps</vt:lpstr>
      <vt:lpstr>Ready to turn data into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Ahmed</cp:lastModifiedBy>
  <cp:revision>4</cp:revision>
  <dcterms:created xsi:type="dcterms:W3CDTF">2013-01-27T09:14:16Z</dcterms:created>
  <dcterms:modified xsi:type="dcterms:W3CDTF">2025-06-13T18:56:05Z</dcterms:modified>
  <cp:category/>
</cp:coreProperties>
</file>