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70" r:id="rId6"/>
    <p:sldId id="260" r:id="rId7"/>
    <p:sldId id="261" r:id="rId8"/>
    <p:sldId id="271" r:id="rId9"/>
    <p:sldId id="262" r:id="rId10"/>
    <p:sldId id="263" r:id="rId11"/>
    <p:sldId id="272" r:id="rId12"/>
    <p:sldId id="264" r:id="rId13"/>
    <p:sldId id="265" r:id="rId14"/>
    <p:sldId id="273" r:id="rId15"/>
    <p:sldId id="266" r:id="rId16"/>
    <p:sldId id="267" r:id="rId17"/>
    <p:sldId id="269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25" d="100"/>
          <a:sy n="25" d="100"/>
        </p:scale>
        <p:origin x="2676" y="10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41AF4A-8F76-4D63-B85E-73E546176925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F0EBED-5B86-4413-B73E-69959BE2ED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165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0EBED-5B86-4413-B73E-69959BE2ED7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9960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57350" y="4464028"/>
            <a:ext cx="6858000" cy="1194650"/>
          </a:xfrm>
        </p:spPr>
        <p:txBody>
          <a:bodyPr wrap="none" anchor="t">
            <a:normAutofit/>
          </a:bodyPr>
          <a:lstStyle>
            <a:lvl1pPr algn="r">
              <a:defRPr sz="7200" b="0" spc="-225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100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57349" y="3829878"/>
            <a:ext cx="6858000" cy="618523"/>
          </a:xfrm>
        </p:spPr>
        <p:txBody>
          <a:bodyPr anchor="b">
            <a:normAutofit/>
          </a:bodyPr>
          <a:lstStyle>
            <a:lvl1pPr marL="0" indent="0" algn="r">
              <a:buNone/>
              <a:defRPr sz="24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169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552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640899" y="4464028"/>
            <a:ext cx="6858000" cy="1194650"/>
          </a:xfrm>
        </p:spPr>
        <p:txBody>
          <a:bodyPr wrap="none" anchor="t">
            <a:normAutofit/>
          </a:bodyPr>
          <a:lstStyle>
            <a:lvl1pPr algn="l">
              <a:defRPr sz="7200" b="0" spc="-225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640899" y="3829878"/>
            <a:ext cx="6858000" cy="617822"/>
          </a:xfrm>
        </p:spPr>
        <p:txBody>
          <a:bodyPr anchor="b">
            <a:normAutofit/>
          </a:bodyPr>
          <a:lstStyle>
            <a:lvl1pPr marL="0" indent="0" algn="l">
              <a:buNone/>
              <a:defRPr sz="24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373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0000" y="1825625"/>
            <a:ext cx="3768912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39880" y="1825625"/>
            <a:ext cx="377547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085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000" y="1681163"/>
            <a:ext cx="3768912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000" y="2505075"/>
            <a:ext cx="376891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39880" y="1681163"/>
            <a:ext cx="3776661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39880" y="2505075"/>
            <a:ext cx="377666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101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484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138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000" y="2057400"/>
            <a:ext cx="2739019" cy="381158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775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000" y="2057400"/>
            <a:ext cx="2739019" cy="381158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816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367161"/>
            <a:ext cx="7886700" cy="81935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9841" y="987426"/>
            <a:ext cx="7886700" cy="3379735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5186516"/>
            <a:ext cx="7885509" cy="682472"/>
          </a:xfrm>
        </p:spPr>
        <p:txBody>
          <a:bodyPr/>
          <a:lstStyle>
            <a:lvl1pPr marL="0" indent="0">
              <a:buNone/>
              <a:defRPr sz="12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61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3534344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4489399"/>
            <a:ext cx="7885509" cy="1501826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9423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365125"/>
            <a:ext cx="6977064" cy="2992904"/>
          </a:xfrm>
        </p:spPr>
        <p:txBody>
          <a:bodyPr anchor="ctr"/>
          <a:lstStyle>
            <a:lvl1pPr>
              <a:defRPr sz="3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8650" y="4501729"/>
            <a:ext cx="7884318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833283" y="786824"/>
            <a:ext cx="4572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28359" y="2743200"/>
            <a:ext cx="457200" cy="584776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963851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326968"/>
            <a:ext cx="7886700" cy="2511835"/>
          </a:xfrm>
        </p:spPr>
        <p:txBody>
          <a:bodyPr anchor="b">
            <a:normAutofit/>
          </a:bodyPr>
          <a:lstStyle>
            <a:lvl1pPr>
              <a:defRPr sz="40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4850581"/>
            <a:ext cx="7885509" cy="1140644"/>
          </a:xfrm>
        </p:spPr>
        <p:txBody>
          <a:bodyPr anchor="t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1028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002961" y="1885950"/>
            <a:ext cx="2210150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017598" y="2571750"/>
            <a:ext cx="21955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40996" y="1885950"/>
            <a:ext cx="220218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18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33081" y="2571750"/>
            <a:ext cx="2210096" cy="358933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71777" y="1885950"/>
            <a:ext cx="2199085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18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71777" y="2571750"/>
            <a:ext cx="2199085" cy="3589338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6164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99064" y="4297503"/>
            <a:ext cx="2205038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99064" y="2256354"/>
            <a:ext cx="220503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99064" y="4873766"/>
            <a:ext cx="2205038" cy="65918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26748" y="4297503"/>
            <a:ext cx="2197894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26747" y="2256354"/>
            <a:ext cx="2197894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25733" y="4873765"/>
            <a:ext cx="2200805" cy="65918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53242" y="4297503"/>
            <a:ext cx="2199085" cy="576262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53241" y="2256354"/>
            <a:ext cx="219908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53148" y="4873763"/>
            <a:ext cx="2201998" cy="659189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8721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1836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5829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000" y="1825625"/>
            <a:ext cx="76753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5BCAD085-E8A6-8845-BD4E-CB4CCA059FC4}" type="datetimeFigureOut">
              <a:rPr lang="en-US" smtClean="0"/>
              <a:t>6/21/2025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47880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3557" y="1575582"/>
            <a:ext cx="8191793" cy="4083096"/>
          </a:xfrm>
        </p:spPr>
        <p:txBody>
          <a:bodyPr>
            <a:normAutofit/>
          </a:bodyPr>
          <a:lstStyle/>
          <a:p>
            <a:r>
              <a:rPr sz="4800" dirty="0"/>
              <a:t>A Strategic </a:t>
            </a:r>
            <a:r>
              <a:rPr lang="en-US" sz="4800" dirty="0"/>
              <a:t>Plan</a:t>
            </a:r>
            <a:r>
              <a:rPr sz="4800" dirty="0"/>
              <a:t> for Our Future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dirty="0"/>
              <a:t>A data-driven story of discovery, risks, and opportunity</a:t>
            </a:r>
          </a:p>
          <a:p>
            <a:r>
              <a:rPr dirty="0"/>
              <a:t>Presented by: </a:t>
            </a:r>
            <a:r>
              <a:rPr lang="en-US" dirty="0"/>
              <a:t>Mohamed Qassem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Setting the Stage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Imagine seeing the invisible threads connecting sales, customers, and global markets.</a:t>
            </a:r>
          </a:p>
          <a:p>
            <a:r>
              <a:t>This report tells that story — a story of discovery and action.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 deep market insights to:</a:t>
            </a:r>
          </a:p>
          <a:p>
            <a:r>
              <a:t>• Drive revenue growth</a:t>
            </a:r>
          </a:p>
          <a:p>
            <a:r>
              <a:t>• Protect key customers</a:t>
            </a:r>
          </a:p>
          <a:p>
            <a:r>
              <a:t>• Expand globally</a:t>
            </a:r>
          </a:p>
          <a:p>
            <a:r>
              <a:t>• Align with sales rhythms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Problem #1 – Not Dancing with Our Sales Rhythm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</a:t>
            </a:r>
            <a:r>
              <a:rPr lang="en-US" dirty="0"/>
              <a:t>September to November </a:t>
            </a:r>
            <a:r>
              <a:rPr dirty="0"/>
              <a:t>peak, Dec dip</a:t>
            </a:r>
          </a:p>
          <a:p>
            <a:r>
              <a:rPr dirty="0"/>
              <a:t>• Spring mini-peak</a:t>
            </a:r>
          </a:p>
          <a:p>
            <a:r>
              <a:rPr dirty="0"/>
              <a:t>→ Are we aligned with this pattern?</a:t>
            </a:r>
          </a:p>
          <a:p>
            <a:r>
              <a:rPr dirty="0"/>
              <a:t>→ Are we wasting resources?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39D74-959D-13A0-1E72-8D09ACDEC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2011 Monthly Revenue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A5A7AA7-A23A-BFB1-9CB5-BFD078C856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8848" y="1825625"/>
            <a:ext cx="7446303" cy="4351338"/>
          </a:xfrm>
        </p:spPr>
      </p:pic>
    </p:spTree>
    <p:extLst>
      <p:ext uri="{BB962C8B-B14F-4D97-AF65-F5344CB8AC3E}">
        <p14:creationId xmlns:p14="http://schemas.microsoft.com/office/powerpoint/2010/main" val="900055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#1 – Ride the Rhythm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Align teams for </a:t>
            </a:r>
            <a:r>
              <a:rPr lang="en-US" dirty="0"/>
              <a:t>September to November </a:t>
            </a:r>
            <a:endParaRPr dirty="0"/>
          </a:p>
          <a:p>
            <a:r>
              <a:rPr dirty="0"/>
              <a:t>• Launch summer promos</a:t>
            </a:r>
          </a:p>
          <a:p>
            <a:r>
              <a:rPr dirty="0"/>
              <a:t>→ Goal: Boost peaks, smooth troughs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Problem #2 – Uneven Performance in Europe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Netherlands leads</a:t>
            </a:r>
            <a:endParaRPr lang="en-US" dirty="0"/>
          </a:p>
          <a:p>
            <a:r>
              <a:rPr lang="en-US" dirty="0"/>
              <a:t>• Ireland matches their revenue</a:t>
            </a:r>
            <a:endParaRPr dirty="0"/>
          </a:p>
          <a:p>
            <a:r>
              <a:rPr dirty="0"/>
              <a:t>• Germany sells more units</a:t>
            </a:r>
          </a:p>
          <a:p>
            <a:r>
              <a:rPr dirty="0"/>
              <a:t>• France earns more per unit</a:t>
            </a:r>
          </a:p>
          <a:p>
            <a:r>
              <a:rPr dirty="0"/>
              <a:t>• Other countries underperform</a:t>
            </a:r>
          </a:p>
          <a:p>
            <a:r>
              <a:rPr dirty="0"/>
              <a:t>→ Why can’t all perform like Netherlands?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018B0-ECD6-050C-8686-CB6368F29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dirty="0"/>
              <a:t>Revenue &amp; Quantity Top Countries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0F9B751-C94C-EEB8-B9E4-EA68424137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4219" y="1861841"/>
            <a:ext cx="7675562" cy="4278905"/>
          </a:xfrm>
        </p:spPr>
      </p:pic>
    </p:spTree>
    <p:extLst>
      <p:ext uri="{BB962C8B-B14F-4D97-AF65-F5344CB8AC3E}">
        <p14:creationId xmlns:p14="http://schemas.microsoft.com/office/powerpoint/2010/main" val="4930932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Solution #2 – Replicate What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Study Netherlands strategy</a:t>
            </a:r>
          </a:p>
          <a:p>
            <a:r>
              <a:t>• Apply to Germany and France</a:t>
            </a:r>
          </a:p>
          <a:p>
            <a:r>
              <a:t>• Adjust pricing/product mix in lower-value countries</a:t>
            </a:r>
          </a:p>
          <a:p>
            <a:r>
              <a:t>→ Goal: Maximize value per sale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#3 – One VIP, One Big Risk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Customer</a:t>
            </a:r>
            <a:r>
              <a:rPr lang="en-US" dirty="0"/>
              <a:t>s ID-14646 &amp; ID-18102</a:t>
            </a:r>
            <a:r>
              <a:rPr dirty="0"/>
              <a:t> bring major revenue</a:t>
            </a:r>
          </a:p>
          <a:p>
            <a:r>
              <a:rPr dirty="0"/>
              <a:t>• Heavy reliance on a few</a:t>
            </a:r>
          </a:p>
          <a:p>
            <a:r>
              <a:rPr dirty="0"/>
              <a:t>→ What if one leaves?</a:t>
            </a:r>
          </a:p>
          <a:p>
            <a:r>
              <a:rPr dirty="0"/>
              <a:t>→ Are we seeking similar customers?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03DEB-A8C4-7E87-7026-E08B70D76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Understanding Top Customer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BE898B7-1309-646F-0EEB-9D450A41A7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4219" y="1846233"/>
            <a:ext cx="7675562" cy="4310122"/>
          </a:xfrm>
        </p:spPr>
      </p:pic>
    </p:spTree>
    <p:extLst>
      <p:ext uri="{BB962C8B-B14F-4D97-AF65-F5344CB8AC3E}">
        <p14:creationId xmlns:p14="http://schemas.microsoft.com/office/powerpoint/2010/main" val="2445783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#3 – Protect &amp; Multiply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VIP treatment for top customers</a:t>
            </a:r>
          </a:p>
          <a:p>
            <a:r>
              <a:t>• Contingency plans</a:t>
            </a:r>
          </a:p>
          <a:p>
            <a:r>
              <a:t>• Create look-alike profiles</a:t>
            </a:r>
          </a:p>
          <a:p>
            <a:r>
              <a:t>→ Goal: Secure and expand top-tier base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Problem #4 – Untapped Global Goldmines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Strong in Europe</a:t>
            </a:r>
          </a:p>
          <a:p>
            <a:r>
              <a:rPr dirty="0"/>
              <a:t>• Weak in </a:t>
            </a:r>
            <a:r>
              <a:rPr lang="en-US" dirty="0"/>
              <a:t> Africa, South America, and most of Asia</a:t>
            </a:r>
            <a:endParaRPr dirty="0"/>
          </a:p>
          <a:p>
            <a:r>
              <a:rPr dirty="0"/>
              <a:t>→ Missing major growth areas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42A65-CF13-4799-9286-887BA0285D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Quantity sold by Country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0D893F0-D685-8AD2-0876-3BD394EC81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4219" y="1852431"/>
            <a:ext cx="7675562" cy="4297725"/>
          </a:xfrm>
        </p:spPr>
      </p:pic>
    </p:spTree>
    <p:extLst>
      <p:ext uri="{BB962C8B-B14F-4D97-AF65-F5344CB8AC3E}">
        <p14:creationId xmlns:p14="http://schemas.microsoft.com/office/powerpoint/2010/main" val="38526282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#4 – Explore &amp; Expand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Research 2 white-space regions</a:t>
            </a:r>
          </a:p>
          <a:p>
            <a:r>
              <a:t>• Understand local markets</a:t>
            </a:r>
          </a:p>
          <a:p>
            <a:r>
              <a:t>• Build phased entry plan</a:t>
            </a:r>
          </a:p>
          <a:p>
            <a:r>
              <a:t>→ Goal: Expand intelligently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Transformation Path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If we act:</a:t>
            </a:r>
          </a:p>
          <a:p>
            <a:r>
              <a:rPr lang="en-US" dirty="0"/>
              <a:t>✅ Align with real sales demand</a:t>
            </a:r>
          </a:p>
          <a:p>
            <a:r>
              <a:rPr lang="en-US" dirty="0"/>
              <a:t>✅ Maximize our top-performing regions</a:t>
            </a:r>
          </a:p>
          <a:p>
            <a:r>
              <a:rPr lang="en-US" dirty="0"/>
              <a:t>✅ Protect and grow VIP relationships</a:t>
            </a:r>
          </a:p>
          <a:p>
            <a:r>
              <a:rPr lang="en-US" dirty="0"/>
              <a:t>✅ Tap into new global markets</a:t>
            </a:r>
            <a:endParaRPr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Call to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We’ve seen the story.</a:t>
            </a:r>
          </a:p>
          <a:p>
            <a:r>
              <a:t>Let’s write the next chapter:</a:t>
            </a:r>
          </a:p>
          <a:p>
            <a:r>
              <a:t>Growth, resilience, global leadership.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386</TotalTime>
  <Words>396</Words>
  <Application>Microsoft Office PowerPoint</Application>
  <PresentationFormat>On-screen Show (4:3)</PresentationFormat>
  <Paragraphs>67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Arial</vt:lpstr>
      <vt:lpstr>Corbel</vt:lpstr>
      <vt:lpstr>Depth</vt:lpstr>
      <vt:lpstr>A Strategic Plan for Our Future</vt:lpstr>
      <vt:lpstr>Setting the Stage</vt:lpstr>
      <vt:lpstr>Our Mission</vt:lpstr>
      <vt:lpstr>Problem #1 – Not Dancing with Our Sales Rhythm</vt:lpstr>
      <vt:lpstr>2011 Monthly Revenue</vt:lpstr>
      <vt:lpstr>Solution #1 – Ride the Rhythm</vt:lpstr>
      <vt:lpstr>Problem #2 – Uneven Performance in Europe</vt:lpstr>
      <vt:lpstr>Revenue &amp; Quantity Top Countries</vt:lpstr>
      <vt:lpstr>Solution #2 – Replicate What Works</vt:lpstr>
      <vt:lpstr>Problem #3 – One VIP, One Big Risk</vt:lpstr>
      <vt:lpstr>Understanding Top Customer</vt:lpstr>
      <vt:lpstr>Solution #3 – Protect &amp; Multiply</vt:lpstr>
      <vt:lpstr>Problem #4 – Untapped Global Goldmines</vt:lpstr>
      <vt:lpstr>Quantity sold by Country</vt:lpstr>
      <vt:lpstr>Solution #4 – Explore &amp; Expand</vt:lpstr>
      <vt:lpstr>The Transformation Path</vt:lpstr>
      <vt:lpstr>Final Call to Action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Mohamed Ahmed</cp:lastModifiedBy>
  <cp:revision>6</cp:revision>
  <dcterms:created xsi:type="dcterms:W3CDTF">2013-01-27T09:14:16Z</dcterms:created>
  <dcterms:modified xsi:type="dcterms:W3CDTF">2025-06-21T05:26:46Z</dcterms:modified>
  <cp:category/>
</cp:coreProperties>
</file>